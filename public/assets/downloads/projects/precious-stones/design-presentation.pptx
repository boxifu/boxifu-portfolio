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Economica"/>
      <p:regular r:id="rId17"/>
      <p:bold r:id="rId18"/>
      <p:italic r:id="rId19"/>
      <p:boldItalic r:id="rId20"/>
    </p:embeddedFont>
    <p:embeddedFont>
      <p:font typeface="Lobster"/>
      <p:regular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Lobster-regular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conomica-regular.fntdata"/><Relationship Id="rId16" Type="http://schemas.openxmlformats.org/officeDocument/2006/relationships/slide" Target="slides/slide11.xml"/><Relationship Id="rId19" Type="http://schemas.openxmlformats.org/officeDocument/2006/relationships/font" Target="fonts/Economica-italic.fntdata"/><Relationship Id="rId18" Type="http://schemas.openxmlformats.org/officeDocument/2006/relationships/font" Target="fonts/Economic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269a6cc4b7_0_1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269a6cc4b7_0_1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3b456a0b2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3b456a0b2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3-5 Boxi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2, 6-8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3b456a0b2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3b456a0b2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269a6cc4b7_0_1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269a6cc4b7_0_1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3b888efe2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3b888efe2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3b456a0b22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3b456a0b2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269a6cc4b7_0_1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269a6cc4b7_0_1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3b456a0b2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3b456a0b2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269a6cc4b7_0_1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269a6cc4b7_0_1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269a6cc4b7_0_1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269a6cc4b7_0_1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269a6cc4b7_0_1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269a6cc4b7_0_1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hyperlink" Target="http://www.youtube.com/watch?v=LrqN4CskK_g" TargetMode="External"/><Relationship Id="rId5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0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2097450" y="4144375"/>
            <a:ext cx="4949100" cy="708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rPr>
              <a:t>Boxi Fu &amp; Mingfu Li</a:t>
            </a:r>
            <a:endParaRPr sz="2100">
              <a:solidFill>
                <a:schemeClr val="l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BDEE1"/>
                </a:solidFill>
              </a:rPr>
              <a:t>Diji Diallo, Franco Grimoldi Calo, Jose Pescador &amp; Mallow Chu</a:t>
            </a:r>
            <a:endParaRPr sz="1800">
              <a:solidFill>
                <a:schemeClr val="l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631700" y="3694750"/>
            <a:ext cx="5880600" cy="701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Final </a:t>
            </a:r>
            <a:r>
              <a:rPr lang="en" sz="2400">
                <a:solidFill>
                  <a:srgbClr val="FFFFFF"/>
                </a:solidFill>
              </a:rPr>
              <a:t>Presentation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1700" y="1775200"/>
            <a:ext cx="5880602" cy="644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DA362"/>
                </a:solidFill>
              </a:rPr>
              <a:t>Precious Stones</a:t>
            </a:r>
            <a:endParaRPr>
              <a:solidFill>
                <a:srgbClr val="CDA362"/>
              </a:solidFill>
            </a:endParaRPr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1225225"/>
            <a:ext cx="5286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roid Sans"/>
              <a:buChar char="-"/>
            </a:pPr>
            <a:r>
              <a:rPr lang="en" sz="1600">
                <a:solidFill>
                  <a:schemeClr val="lt1"/>
                </a:solidFill>
                <a:latin typeface="Droid Sans"/>
                <a:ea typeface="Droid Sans"/>
                <a:cs typeface="Droid Sans"/>
                <a:sym typeface="Droid Sans"/>
              </a:rPr>
              <a:t>A Character </a:t>
            </a:r>
            <a:r>
              <a:rPr b="1" lang="en" sz="1600">
                <a:solidFill>
                  <a:schemeClr val="lt1"/>
                </a:solidFill>
                <a:latin typeface="Droid Sans"/>
                <a:ea typeface="Droid Sans"/>
                <a:cs typeface="Droid Sans"/>
                <a:sym typeface="Droid Sans"/>
              </a:rPr>
              <a:t>action-adventure </a:t>
            </a:r>
            <a:r>
              <a:rPr lang="en" sz="1600">
                <a:solidFill>
                  <a:schemeClr val="lt1"/>
                </a:solidFill>
                <a:latin typeface="Droid Sans"/>
                <a:ea typeface="Droid Sans"/>
                <a:cs typeface="Droid Sans"/>
                <a:sym typeface="Droid Sans"/>
              </a:rPr>
              <a:t>game</a:t>
            </a:r>
            <a:endParaRPr sz="1600">
              <a:solidFill>
                <a:schemeClr val="lt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roid Sans"/>
              <a:buChar char="-"/>
            </a:pPr>
            <a:r>
              <a:rPr lang="en" sz="1600">
                <a:solidFill>
                  <a:schemeClr val="lt1"/>
                </a:solidFill>
                <a:latin typeface="Droid Sans"/>
                <a:ea typeface="Droid Sans"/>
                <a:cs typeface="Droid Sans"/>
                <a:sym typeface="Droid Sans"/>
              </a:rPr>
              <a:t>Play as a dwarf who starts an adventure following his father’s wishes</a:t>
            </a:r>
            <a:endParaRPr sz="1600">
              <a:solidFill>
                <a:schemeClr val="lt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roid Sans"/>
              <a:buChar char="-"/>
            </a:pPr>
            <a:r>
              <a:rPr lang="en" sz="1600">
                <a:solidFill>
                  <a:schemeClr val="lt1"/>
                </a:solidFill>
                <a:latin typeface="Droid Sans"/>
                <a:ea typeface="Droid Sans"/>
                <a:cs typeface="Droid Sans"/>
                <a:sym typeface="Droid Sans"/>
              </a:rPr>
              <a:t>Use his beloved hammer to defeat monsters and solve puzzles</a:t>
            </a:r>
            <a:endParaRPr sz="1600">
              <a:solidFill>
                <a:schemeClr val="lt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>
            <a:off x="412580" y="4391454"/>
            <a:ext cx="487091" cy="4870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810225" y="4512950"/>
            <a:ext cx="49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DA362"/>
                </a:solidFill>
                <a:latin typeface="Economica"/>
                <a:ea typeface="Economica"/>
                <a:cs typeface="Economica"/>
                <a:sym typeface="Economica"/>
              </a:rPr>
              <a:t>Boxi &amp; Mingfu</a:t>
            </a:r>
            <a:endParaRPr>
              <a:solidFill>
                <a:srgbClr val="CDA362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>
            <a:alphaModFix/>
          </a:blip>
          <a:srcRect b="0" l="50000" r="0" t="50000"/>
          <a:stretch/>
        </p:blipFill>
        <p:spPr>
          <a:xfrm>
            <a:off x="5723100" y="1149025"/>
            <a:ext cx="2956800" cy="29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CDA362"/>
                </a:solidFill>
              </a:rPr>
              <a:t>More on Precious Stones</a:t>
            </a:r>
            <a:endParaRPr>
              <a:solidFill>
                <a:srgbClr val="CDA362"/>
              </a:solidFill>
            </a:endParaRPr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16425"/>
            <a:ext cx="4782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139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roid Sans"/>
              <a:buChar char="-"/>
            </a:pPr>
            <a:r>
              <a:rPr lang="en" sz="1750">
                <a:solidFill>
                  <a:schemeClr val="lt1"/>
                </a:solidFill>
                <a:latin typeface="Droid Sans"/>
                <a:ea typeface="Droid Sans"/>
                <a:cs typeface="Droid Sans"/>
                <a:sym typeface="Droid Sans"/>
              </a:rPr>
              <a:t>Release on PC (Mouse and Keyboard control)</a:t>
            </a:r>
            <a:endParaRPr sz="1750">
              <a:solidFill>
                <a:schemeClr val="lt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31391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roid Sans"/>
              <a:buChar char="-"/>
            </a:pPr>
            <a:r>
              <a:rPr lang="en" sz="1750">
                <a:solidFill>
                  <a:schemeClr val="lt1"/>
                </a:solidFill>
                <a:latin typeface="Droid Sans"/>
                <a:ea typeface="Droid Sans"/>
                <a:cs typeface="Droid Sans"/>
                <a:sym typeface="Droid Sans"/>
              </a:rPr>
              <a:t>People who are new to action-adventure genre</a:t>
            </a:r>
            <a:endParaRPr sz="1750">
              <a:solidFill>
                <a:schemeClr val="lt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31391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Droid Sans"/>
              <a:buChar char="-"/>
            </a:pPr>
            <a:r>
              <a:rPr lang="en" sz="1750">
                <a:solidFill>
                  <a:schemeClr val="lt1"/>
                </a:solidFill>
              </a:rPr>
              <a:t>Combat, Puzzles &amp; Interconnected levels</a:t>
            </a:r>
            <a:endParaRPr sz="1750">
              <a:solidFill>
                <a:schemeClr val="lt1"/>
              </a:solidFill>
            </a:endParaRPr>
          </a:p>
          <a:p>
            <a:pPr indent="-33139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-"/>
            </a:pPr>
            <a:r>
              <a:rPr lang="en" sz="1750">
                <a:solidFill>
                  <a:schemeClr val="lt1"/>
                </a:solidFill>
              </a:rPr>
              <a:t>Beautiful background musics and juicy sound effects</a:t>
            </a:r>
            <a:endParaRPr>
              <a:solidFill>
                <a:schemeClr val="lt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>
            <a:off x="412580" y="4391454"/>
            <a:ext cx="487091" cy="48709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810225" y="4512950"/>
            <a:ext cx="49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DA362"/>
                </a:solidFill>
                <a:latin typeface="Economica"/>
                <a:ea typeface="Economica"/>
                <a:cs typeface="Economica"/>
                <a:sym typeface="Economica"/>
              </a:rPr>
              <a:t>Boxi &amp; Mingfu</a:t>
            </a:r>
            <a:endParaRPr>
              <a:solidFill>
                <a:srgbClr val="CDA362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5200" y="1449188"/>
            <a:ext cx="3741875" cy="224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1507350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CDA362"/>
                </a:solidFill>
              </a:rPr>
              <a:t>Gameplay </a:t>
            </a:r>
            <a:r>
              <a:rPr lang="en" sz="6400">
                <a:solidFill>
                  <a:srgbClr val="CDA362"/>
                </a:solidFill>
              </a:rPr>
              <a:t>Demo!</a:t>
            </a:r>
            <a:endParaRPr sz="6400">
              <a:solidFill>
                <a:srgbClr val="CDA362"/>
              </a:solidFill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>
            <a:off x="412580" y="4391454"/>
            <a:ext cx="487091" cy="48709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810225" y="4512950"/>
            <a:ext cx="49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DA362"/>
                </a:solidFill>
                <a:latin typeface="Economica"/>
                <a:ea typeface="Economica"/>
                <a:cs typeface="Economica"/>
                <a:sym typeface="Economica"/>
              </a:rPr>
              <a:t>Boxi &amp; Mingfu</a:t>
            </a:r>
            <a:endParaRPr>
              <a:solidFill>
                <a:srgbClr val="CDA362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>
            <a:off x="412580" y="4391454"/>
            <a:ext cx="487091" cy="48709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810225" y="4512950"/>
            <a:ext cx="49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DA362"/>
                </a:solidFill>
                <a:latin typeface="Economica"/>
                <a:ea typeface="Economica"/>
                <a:cs typeface="Economica"/>
                <a:sym typeface="Economica"/>
              </a:rPr>
              <a:t>Boxi &amp; Mingfu</a:t>
            </a:r>
            <a:endParaRPr>
              <a:solidFill>
                <a:srgbClr val="CDA362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Precious Stones is a 3D action-adventure game developed by two USC Games students collaborating with four students from Berklee College of Music." id="97" name="Google Shape;97;p17" title="Precious Stones Full Game Playthrough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5275" y="334250"/>
            <a:ext cx="7033450" cy="395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230800" y="255550"/>
            <a:ext cx="4045200" cy="17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DA362"/>
                </a:solidFill>
              </a:rPr>
              <a:t>Production Values</a:t>
            </a:r>
            <a:endParaRPr>
              <a:solidFill>
                <a:srgbClr val="CDA362"/>
              </a:solidFill>
            </a:endParaRPr>
          </a:p>
        </p:txBody>
      </p:sp>
      <p:sp>
        <p:nvSpPr>
          <p:cNvPr id="103" name="Google Shape;103;p18"/>
          <p:cNvSpPr txBox="1"/>
          <p:nvPr>
            <p:ph idx="2" type="body"/>
          </p:nvPr>
        </p:nvSpPr>
        <p:spPr>
          <a:xfrm>
            <a:off x="4836950" y="1101625"/>
            <a:ext cx="3975900" cy="3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We chose the </a:t>
            </a: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simplistic and stylistic low-polygon art for most of our 3D asse</a:t>
            </a: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ts.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Many cute and little sequences of character and UI animations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SzPts val="1800"/>
              <a:buFont typeface="Droid Sans"/>
              <a:buChar char="-"/>
            </a:pP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We used techniques like camera shake, frame freezing, and particles for game feel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>
            <a:off x="331680" y="4555529"/>
            <a:ext cx="487091" cy="48709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729325" y="4677025"/>
            <a:ext cx="49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DA362"/>
                </a:solidFill>
                <a:latin typeface="Economica"/>
                <a:ea typeface="Economica"/>
                <a:cs typeface="Economica"/>
                <a:sym typeface="Economica"/>
              </a:rPr>
              <a:t>Boxi &amp; Mingfu</a:t>
            </a:r>
            <a:endParaRPr>
              <a:solidFill>
                <a:srgbClr val="CDA362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900" y="1677475"/>
            <a:ext cx="3465001" cy="210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230800" y="255550"/>
            <a:ext cx="4045200" cy="17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DA362"/>
                </a:solidFill>
              </a:rPr>
              <a:t>Behind the scenes</a:t>
            </a:r>
            <a:endParaRPr>
              <a:solidFill>
                <a:srgbClr val="CDA362"/>
              </a:solidFill>
            </a:endParaRPr>
          </a:p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801750" y="1142100"/>
            <a:ext cx="3975900" cy="285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roid Sans"/>
              <a:buChar char="-"/>
            </a:pPr>
            <a:r>
              <a:rPr lang="en" sz="2000">
                <a:latin typeface="Droid Sans"/>
                <a:ea typeface="Droid Sans"/>
                <a:cs typeface="Droid Sans"/>
                <a:sym typeface="Droid Sans"/>
              </a:rPr>
              <a:t>First hammer throwing &amp; recalling prototype</a:t>
            </a:r>
            <a:endParaRPr sz="2000">
              <a:latin typeface="Droid Sans"/>
              <a:ea typeface="Droid Sans"/>
              <a:cs typeface="Droid Sans"/>
              <a:sym typeface="Droid Sans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600"/>
              </a:spcAft>
              <a:buSzPts val="2000"/>
              <a:buFont typeface="Droid Sans"/>
              <a:buChar char="-"/>
            </a:pPr>
            <a:r>
              <a:rPr lang="en" sz="2000">
                <a:latin typeface="Droid Sans"/>
                <a:ea typeface="Droid Sans"/>
                <a:cs typeface="Droid Sans"/>
                <a:sym typeface="Droid Sans"/>
              </a:rPr>
              <a:t>Critics on “</a:t>
            </a:r>
            <a:r>
              <a:rPr lang="en" sz="2000">
                <a:latin typeface="Droid Sans"/>
                <a:ea typeface="Droid Sans"/>
                <a:cs typeface="Droid Sans"/>
                <a:sym typeface="Droid Sans"/>
              </a:rPr>
              <a:t>juiciness</a:t>
            </a:r>
            <a:r>
              <a:rPr lang="en" sz="2000">
                <a:latin typeface="Droid Sans"/>
                <a:ea typeface="Droid Sans"/>
                <a:cs typeface="Droid Sans"/>
                <a:sym typeface="Droid Sans"/>
              </a:rPr>
              <a:t>”</a:t>
            </a:r>
            <a:endParaRPr sz="2000">
              <a:latin typeface="Droid Sans"/>
              <a:ea typeface="Droid Sans"/>
              <a:cs typeface="Droid Sans"/>
              <a:sym typeface="Droid Sans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>
            <a:off x="331680" y="4555529"/>
            <a:ext cx="487091" cy="48709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729325" y="4677025"/>
            <a:ext cx="49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DA362"/>
                </a:solidFill>
                <a:latin typeface="Economica"/>
                <a:ea typeface="Economica"/>
                <a:cs typeface="Economica"/>
                <a:sym typeface="Economica"/>
              </a:rPr>
              <a:t>Boxi &amp; Mingfu</a:t>
            </a:r>
            <a:endParaRPr>
              <a:solidFill>
                <a:srgbClr val="CDA362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800" y="1717425"/>
            <a:ext cx="4147899" cy="198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230800" y="255550"/>
            <a:ext cx="4045200" cy="17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DA362"/>
                </a:solidFill>
              </a:rPr>
              <a:t>Behind the scenes</a:t>
            </a:r>
            <a:endParaRPr>
              <a:solidFill>
                <a:srgbClr val="CDA362"/>
              </a:solidFill>
            </a:endParaRPr>
          </a:p>
        </p:txBody>
      </p:sp>
      <p:sp>
        <p:nvSpPr>
          <p:cNvPr id="121" name="Google Shape;121;p20"/>
          <p:cNvSpPr txBox="1"/>
          <p:nvPr>
            <p:ph idx="2" type="body"/>
          </p:nvPr>
        </p:nvSpPr>
        <p:spPr>
          <a:xfrm>
            <a:off x="4801750" y="1142100"/>
            <a:ext cx="3976500" cy="285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Droid Sans"/>
              <a:buChar char="-"/>
            </a:pPr>
            <a:r>
              <a:rPr lang="en" sz="2000">
                <a:latin typeface="Droid Sans"/>
                <a:ea typeface="Droid Sans"/>
                <a:cs typeface="Droid Sans"/>
                <a:sym typeface="Droid Sans"/>
              </a:rPr>
              <a:t>Hammer throwing/recalling iteration</a:t>
            </a:r>
            <a:endParaRPr sz="2000">
              <a:latin typeface="Droid Sans"/>
              <a:ea typeface="Droid Sans"/>
              <a:cs typeface="Droid Sans"/>
              <a:sym typeface="Droid Sans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Font typeface="Droid Sans"/>
              <a:buChar char="-"/>
            </a:pPr>
            <a:r>
              <a:rPr lang="en" sz="2000">
                <a:latin typeface="Droid Sans"/>
                <a:ea typeface="Droid Sans"/>
                <a:cs typeface="Droid Sans"/>
                <a:sym typeface="Droid Sans"/>
              </a:rPr>
              <a:t>Aiming Correction</a:t>
            </a:r>
            <a:endParaRPr sz="2000">
              <a:latin typeface="Droid Sans"/>
              <a:ea typeface="Droid Sans"/>
              <a:cs typeface="Droid Sans"/>
              <a:sym typeface="Droid Sans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600"/>
              </a:spcAft>
              <a:buSzPts val="2000"/>
              <a:buFont typeface="Droid Sans"/>
              <a:buChar char="-"/>
            </a:pPr>
            <a:r>
              <a:rPr lang="en" sz="2000">
                <a:latin typeface="Droid Sans"/>
                <a:ea typeface="Droid Sans"/>
                <a:cs typeface="Droid Sans"/>
                <a:sym typeface="Droid Sans"/>
              </a:rPr>
              <a:t>Input Changes</a:t>
            </a:r>
            <a:endParaRPr sz="2000">
              <a:latin typeface="Droid Sans"/>
              <a:ea typeface="Droid Sans"/>
              <a:cs typeface="Droid Sans"/>
              <a:sym typeface="Droid Sans"/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>
            <a:off x="331680" y="4555529"/>
            <a:ext cx="487091" cy="487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729325" y="4677025"/>
            <a:ext cx="49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DA362"/>
                </a:solidFill>
                <a:latin typeface="Economica"/>
                <a:ea typeface="Economica"/>
                <a:cs typeface="Economica"/>
                <a:sym typeface="Economica"/>
              </a:rPr>
              <a:t>Boxi &amp; Mingfu</a:t>
            </a:r>
            <a:endParaRPr>
              <a:solidFill>
                <a:srgbClr val="CDA362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 rotWithShape="1">
          <a:blip r:embed="rId4">
            <a:alphaModFix/>
          </a:blip>
          <a:srcRect b="24670" l="10026" r="14644" t="0"/>
          <a:stretch/>
        </p:blipFill>
        <p:spPr>
          <a:xfrm>
            <a:off x="298288" y="1660500"/>
            <a:ext cx="3910225" cy="234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A67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of our game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452525" y="1225225"/>
            <a:ext cx="7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Release on Itch.io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Controller support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Localization</a:t>
            </a:r>
            <a:endParaRPr sz="2000"/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475" y="1072825"/>
            <a:ext cx="2533800" cy="142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159370">
            <a:off x="6013200" y="2428650"/>
            <a:ext cx="1713749" cy="171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9125" y="3016925"/>
            <a:ext cx="1594324" cy="1594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888544" y="1649755"/>
            <a:ext cx="47517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CDA362"/>
                </a:solidFill>
                <a:latin typeface="Lobster"/>
                <a:ea typeface="Lobster"/>
                <a:cs typeface="Lobster"/>
                <a:sym typeface="Lobster"/>
              </a:rPr>
              <a:t>Thank you!</a:t>
            </a:r>
            <a:endParaRPr b="1" sz="5200">
              <a:solidFill>
                <a:srgbClr val="CDA362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3957679" y="2862109"/>
            <a:ext cx="499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DA362"/>
                </a:solidFill>
                <a:latin typeface="Economica"/>
                <a:ea typeface="Economica"/>
                <a:cs typeface="Economica"/>
                <a:sym typeface="Economica"/>
              </a:rPr>
              <a:t>Boxi &amp; Mingfu</a:t>
            </a:r>
            <a:endParaRPr sz="1600">
              <a:solidFill>
                <a:srgbClr val="CDA362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36">
            <a:off x="2410622" y="1939847"/>
            <a:ext cx="1673456" cy="1673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1092800" y="1669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CDA362"/>
                </a:solidFill>
                <a:latin typeface="Lobster"/>
                <a:ea typeface="Lobster"/>
                <a:cs typeface="Lobster"/>
                <a:sym typeface="Lobster"/>
              </a:rPr>
              <a:t>Credit</a:t>
            </a:r>
            <a:endParaRPr b="1" sz="6000">
              <a:solidFill>
                <a:srgbClr val="CDA362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4024475" y="2803675"/>
            <a:ext cx="499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DA362"/>
                </a:solidFill>
                <a:latin typeface="Economica"/>
                <a:ea typeface="Economica"/>
                <a:cs typeface="Economica"/>
                <a:sym typeface="Economica"/>
              </a:rPr>
              <a:t>USC Games</a:t>
            </a:r>
            <a:endParaRPr sz="1600">
              <a:solidFill>
                <a:srgbClr val="CDA362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DA362"/>
                </a:solidFill>
                <a:latin typeface="Economica"/>
                <a:ea typeface="Economica"/>
                <a:cs typeface="Economica"/>
                <a:sym typeface="Economica"/>
              </a:rPr>
              <a:t>Berklee College of Music</a:t>
            </a:r>
            <a:endParaRPr sz="1600">
              <a:solidFill>
                <a:srgbClr val="CDA362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CDA362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36">
            <a:off x="2410622" y="1939847"/>
            <a:ext cx="1673456" cy="1673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